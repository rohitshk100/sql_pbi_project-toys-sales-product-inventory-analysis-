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2" r:id="rId3"/>
    <p:sldId id="261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90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F730F-59CD-4691-9218-EFB20E97D0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2BA6DC-E337-44C2-8E0B-95085A6EC8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E67CB6-E6B6-4BC2-B7CE-96BE9689E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11708-F704-4331-9570-F20B4593A7CB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25A524-26AF-48C5-8246-7B5A209B7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E487B0-5716-473C-8707-314025159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355BB-3063-4E11-9B96-732E14428F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6043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3C322-157F-4088-A8D5-5FCC04C02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B99FAE-D37F-45A0-A0AF-C4B7E9577F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1DCBED-CB1D-4855-95E8-E4584A29B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11708-F704-4331-9570-F20B4593A7CB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63D4C8-BC71-47B9-9197-F0E817691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E82CF0-5D79-44CC-9391-1DB01187E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355BB-3063-4E11-9B96-732E14428F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85077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B999D-BB46-4D52-A928-37B4E3432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B5C3DB-4141-44B1-A86B-AE24A43808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53AED3-09C3-4A59-99BB-E968B7CA6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11708-F704-4331-9570-F20B4593A7CB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4C8776-4E26-4CCA-BCF3-29D07B9A4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043C36-4FDC-4BC0-ACD5-25CE2EDDE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355BB-3063-4E11-9B96-732E14428F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76075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CD429-12DD-4941-81A7-5A9DD9905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152B26-6EE0-4A65-903B-A853A43324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107CEF-E729-415E-B6B7-F0684446BB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AB41B5-500F-4700-8A41-49843BDB6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11708-F704-4331-9570-F20B4593A7CB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5AD371-2FED-4B09-B426-42F8FBB8A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0B2B7B-3880-4AD1-87CA-09DE8AD05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355BB-3063-4E11-9B96-732E14428F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94650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2996D-EBFA-4132-B6D0-6777431BF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26DF11-96FB-4D4D-A10A-F032F77BC9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5407FA-501C-43DC-86D4-F75C1E4C9A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BF2FE5-A7AE-422A-B21E-0A7289750E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D454D7-7769-4A14-B988-8BD472E8D2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059982-B25F-4529-AB40-D0D04C0DB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11708-F704-4331-9570-F20B4593A7CB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D4B638-6E83-4A75-8793-19EDD786F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CE9315-6B10-4A05-8CC8-87E18EA46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355BB-3063-4E11-9B96-732E14428F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2804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F0C13-A1FD-4809-88AA-180D1F735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599DB0-AE47-4A64-A721-AE97A05EF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11708-F704-4331-9570-F20B4593A7CB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2CEB8D-5B48-4669-B4B7-1BB7DD512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762478-CF6E-4553-A305-5EE0DC4FC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355BB-3063-4E11-9B96-732E14428F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21883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43E2EC-C37D-4380-AF6D-2D0270AA3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11708-F704-4331-9570-F20B4593A7CB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692A89-EA8D-4FB2-B39E-6BED8A992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9D5978-F2DF-4B40-9CB2-B54145283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355BB-3063-4E11-9B96-732E14428F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8394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57815-949C-450D-B04D-5274CACC8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4F11AA-B575-41A4-8846-5F52BD0C8A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0060F9-A5F2-40A3-BEDB-F0F28D7085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710D36-FB93-45C4-BDEE-50617A49B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11708-F704-4331-9570-F20B4593A7CB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C345C0-401A-427A-85C1-8F0AAB4EB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A1BB98-8C51-47A0-9C0F-4752A7D0C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355BB-3063-4E11-9B96-732E14428F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24073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26B78-9CAB-47F9-843B-0E8F90E70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40B675-6D87-457C-AA87-FDCC3246E5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5F11E7-D3BF-47AC-9F9F-60A2571C67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2BAF89-61FC-4CF6-82E5-413C1F7D9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11708-F704-4331-9570-F20B4593A7CB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6D87C9-F3BA-411F-BEA4-6A9D32968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74F7B7-EDF9-4DB6-9528-FD5728460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355BB-3063-4E11-9B96-732E14428F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04589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97113-4AD2-44B9-85EE-616D4C17F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F99905-5FE1-4F42-A193-706DC36DF0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21D916-CC2E-41D7-8810-CC910DDD1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11708-F704-4331-9570-F20B4593A7CB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45D0BE-FB36-4124-9128-73610D142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C53D67-08AF-440E-85B8-CBDA8955B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355BB-3063-4E11-9B96-732E14428F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00799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E93640-9EE6-47E1-8815-6BFF2C8298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93B1F3-008B-4028-87AC-4055B5BE98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7C5B3A-3A01-4997-A159-035422B22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11708-F704-4331-9570-F20B4593A7CB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91DC68-BB5D-4180-AA24-D7A3D1523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3FD762-AB96-48D6-9818-2E996B387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355BB-3063-4E11-9B96-732E14428F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9275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C11084-F9BE-4110-BB06-112036F33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6C3515-ABBA-4D9C-A993-78C1B6F67E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2E8861-18DA-4059-9A8D-EE2BF61216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111708-F704-4331-9570-F20B4593A7CB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EF114-8BE2-45A0-8CED-4D2A997E6D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032417-8487-47F7-B19D-8771591063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4355BB-3063-4E11-9B96-732E14428F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9363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8CA49-0A5D-33DF-0D1A-457ACCC3E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i="1" dirty="0"/>
              <a:t>				PROBLEM STATEMENT</a:t>
            </a:r>
            <a:endParaRPr lang="en-IN" sz="3200" b="1" i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B1A656-CD88-4ED7-8EAD-B1FDF73A41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is a new Toy store that has been opened and doing decently well.</a:t>
            </a:r>
            <a:r>
              <a:rPr lang="en-IN" dirty="0"/>
              <a:t> The store management is looking to analyse their data and improve their sales and performance. There are 4 datasets mainly provided</a:t>
            </a:r>
            <a:endParaRPr lang="en-US" dirty="0"/>
          </a:p>
          <a:p>
            <a:r>
              <a:rPr lang="en-IN" dirty="0"/>
              <a:t>1 –SALES</a:t>
            </a:r>
          </a:p>
          <a:p>
            <a:r>
              <a:rPr lang="en-IN" dirty="0"/>
              <a:t>2 –STORES</a:t>
            </a:r>
          </a:p>
          <a:p>
            <a:r>
              <a:rPr lang="en-IN" dirty="0"/>
              <a:t>3-PRODUCTS</a:t>
            </a:r>
          </a:p>
          <a:p>
            <a:r>
              <a:rPr lang="en-IN" dirty="0"/>
              <a:t>4-INVENTORY</a:t>
            </a:r>
          </a:p>
        </p:txBody>
      </p:sp>
    </p:spTree>
    <p:extLst>
      <p:ext uri="{BB962C8B-B14F-4D97-AF65-F5344CB8AC3E}">
        <p14:creationId xmlns:p14="http://schemas.microsoft.com/office/powerpoint/2010/main" val="39097257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2AA6B-F862-A141-F7BA-E7B8FFC40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1" y="557589"/>
            <a:ext cx="9601196" cy="585411"/>
          </a:xfrm>
        </p:spPr>
        <p:txBody>
          <a:bodyPr>
            <a:normAutofit/>
          </a:bodyPr>
          <a:lstStyle/>
          <a:p>
            <a:r>
              <a:rPr lang="en-US" sz="3200" b="1" dirty="0"/>
              <a:t>DATA DICTIONARY</a:t>
            </a:r>
            <a:endParaRPr lang="en-IN" sz="3200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108ADE-98CF-EB90-2FB1-2C63D99F9D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1" y="1328057"/>
            <a:ext cx="9601196" cy="4547811"/>
          </a:xfrm>
        </p:spPr>
        <p:txBody>
          <a:bodyPr/>
          <a:lstStyle/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C7C09AE-DB2F-F7D2-FF63-C97D0CA20B6D}"/>
              </a:ext>
            </a:extLst>
          </p:cNvPr>
          <p:cNvGraphicFramePr>
            <a:graphicFrameLocks noGrp="1"/>
          </p:cNvGraphicFramePr>
          <p:nvPr/>
        </p:nvGraphicFramePr>
        <p:xfrm>
          <a:off x="1632857" y="1404257"/>
          <a:ext cx="8904512" cy="5018317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250018">
                  <a:extLst>
                    <a:ext uri="{9D8B030D-6E8A-4147-A177-3AD203B41FA5}">
                      <a16:colId xmlns:a16="http://schemas.microsoft.com/office/drawing/2014/main" val="104135"/>
                    </a:ext>
                  </a:extLst>
                </a:gridCol>
                <a:gridCol w="2124940">
                  <a:extLst>
                    <a:ext uri="{9D8B030D-6E8A-4147-A177-3AD203B41FA5}">
                      <a16:colId xmlns:a16="http://schemas.microsoft.com/office/drawing/2014/main" val="2433833971"/>
                    </a:ext>
                  </a:extLst>
                </a:gridCol>
                <a:gridCol w="5529554">
                  <a:extLst>
                    <a:ext uri="{9D8B030D-6E8A-4147-A177-3AD203B41FA5}">
                      <a16:colId xmlns:a16="http://schemas.microsoft.com/office/drawing/2014/main" val="2778066886"/>
                    </a:ext>
                  </a:extLst>
                </a:gridCol>
              </a:tblGrid>
              <a:tr h="18056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Table</a:t>
                      </a:r>
                      <a:endParaRPr lang="en-IN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3854" marR="438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Field</a:t>
                      </a:r>
                      <a:endParaRPr lang="en-IN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3854" marR="438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Description</a:t>
                      </a:r>
                      <a:endParaRPr lang="en-IN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3854" marR="43854" marT="0" marB="0"/>
                </a:tc>
                <a:extLst>
                  <a:ext uri="{0D108BD9-81ED-4DB2-BD59-A6C34878D82A}">
                    <a16:rowId xmlns:a16="http://schemas.microsoft.com/office/drawing/2014/main" val="4261188123"/>
                  </a:ext>
                </a:extLst>
              </a:tr>
              <a:tr h="33932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Products</a:t>
                      </a:r>
                      <a:endParaRPr lang="en-IN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3854" marR="438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Product_ID</a:t>
                      </a:r>
                      <a:endParaRPr lang="en-IN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3854" marR="438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Product ID</a:t>
                      </a:r>
                      <a:endParaRPr lang="en-IN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3854" marR="43854" marT="0" marB="0"/>
                </a:tc>
                <a:extLst>
                  <a:ext uri="{0D108BD9-81ED-4DB2-BD59-A6C34878D82A}">
                    <a16:rowId xmlns:a16="http://schemas.microsoft.com/office/drawing/2014/main" val="845381847"/>
                  </a:ext>
                </a:extLst>
              </a:tr>
              <a:tr h="33932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Products</a:t>
                      </a:r>
                      <a:endParaRPr lang="en-IN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3854" marR="438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Product_Name</a:t>
                      </a:r>
                      <a:endParaRPr lang="en-IN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3854" marR="438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Product name</a:t>
                      </a:r>
                      <a:endParaRPr lang="en-IN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3854" marR="43854" marT="0" marB="0"/>
                </a:tc>
                <a:extLst>
                  <a:ext uri="{0D108BD9-81ED-4DB2-BD59-A6C34878D82A}">
                    <a16:rowId xmlns:a16="http://schemas.microsoft.com/office/drawing/2014/main" val="2911018250"/>
                  </a:ext>
                </a:extLst>
              </a:tr>
              <a:tr h="33932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Products</a:t>
                      </a:r>
                      <a:endParaRPr lang="en-IN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3854" marR="438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Product_Category</a:t>
                      </a:r>
                      <a:endParaRPr lang="en-IN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3854" marR="438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Product Category</a:t>
                      </a:r>
                      <a:endParaRPr lang="en-IN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3854" marR="43854" marT="0" marB="0"/>
                </a:tc>
                <a:extLst>
                  <a:ext uri="{0D108BD9-81ED-4DB2-BD59-A6C34878D82A}">
                    <a16:rowId xmlns:a16="http://schemas.microsoft.com/office/drawing/2014/main" val="68567826"/>
                  </a:ext>
                </a:extLst>
              </a:tr>
              <a:tr h="33932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Products</a:t>
                      </a:r>
                      <a:endParaRPr lang="en-IN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3854" marR="438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Product_Cost</a:t>
                      </a:r>
                      <a:endParaRPr lang="en-IN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3854" marR="438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Product cost ($USD)</a:t>
                      </a:r>
                      <a:endParaRPr lang="en-IN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3854" marR="43854" marT="0" marB="0"/>
                </a:tc>
                <a:extLst>
                  <a:ext uri="{0D108BD9-81ED-4DB2-BD59-A6C34878D82A}">
                    <a16:rowId xmlns:a16="http://schemas.microsoft.com/office/drawing/2014/main" val="2647103317"/>
                  </a:ext>
                </a:extLst>
              </a:tr>
              <a:tr h="33932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Products</a:t>
                      </a:r>
                      <a:endParaRPr lang="en-IN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3854" marR="438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Product_Price</a:t>
                      </a:r>
                      <a:endParaRPr lang="en-IN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3854" marR="438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Product retail price ($USD)</a:t>
                      </a:r>
                      <a:endParaRPr lang="en-IN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3854" marR="43854" marT="0" marB="0"/>
                </a:tc>
                <a:extLst>
                  <a:ext uri="{0D108BD9-81ED-4DB2-BD59-A6C34878D82A}">
                    <a16:rowId xmlns:a16="http://schemas.microsoft.com/office/drawing/2014/main" val="3570196249"/>
                  </a:ext>
                </a:extLst>
              </a:tr>
              <a:tr h="33932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Inventory</a:t>
                      </a:r>
                      <a:endParaRPr lang="en-IN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3854" marR="438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Store_ID</a:t>
                      </a:r>
                      <a:endParaRPr lang="en-IN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3854" marR="438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Store ID</a:t>
                      </a:r>
                      <a:endParaRPr lang="en-IN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3854" marR="43854" marT="0" marB="0"/>
                </a:tc>
                <a:extLst>
                  <a:ext uri="{0D108BD9-81ED-4DB2-BD59-A6C34878D82A}">
                    <a16:rowId xmlns:a16="http://schemas.microsoft.com/office/drawing/2014/main" val="1996986956"/>
                  </a:ext>
                </a:extLst>
              </a:tr>
              <a:tr h="33932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Inventory</a:t>
                      </a:r>
                      <a:endParaRPr lang="en-IN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3854" marR="438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Product_ID</a:t>
                      </a:r>
                      <a:endParaRPr lang="en-IN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3854" marR="438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Product ID</a:t>
                      </a:r>
                      <a:endParaRPr lang="en-IN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3854" marR="43854" marT="0" marB="0"/>
                </a:tc>
                <a:extLst>
                  <a:ext uri="{0D108BD9-81ED-4DB2-BD59-A6C34878D82A}">
                    <a16:rowId xmlns:a16="http://schemas.microsoft.com/office/drawing/2014/main" val="2289372114"/>
                  </a:ext>
                </a:extLst>
              </a:tr>
              <a:tr h="33932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Inventory</a:t>
                      </a:r>
                      <a:endParaRPr lang="en-IN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3854" marR="438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Stock_On_Hand</a:t>
                      </a:r>
                      <a:endParaRPr lang="en-IN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3854" marR="438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dirty="0">
                          <a:effectLst/>
                        </a:rPr>
                        <a:t>Stock quantity of the product in the store (inventory)</a:t>
                      </a:r>
                      <a:endParaRPr lang="en-IN" sz="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3854" marR="43854" marT="0" marB="0"/>
                </a:tc>
                <a:extLst>
                  <a:ext uri="{0D108BD9-81ED-4DB2-BD59-A6C34878D82A}">
                    <a16:rowId xmlns:a16="http://schemas.microsoft.com/office/drawing/2014/main" val="1671897965"/>
                  </a:ext>
                </a:extLst>
              </a:tr>
              <a:tr h="18056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Stores</a:t>
                      </a:r>
                      <a:endParaRPr lang="en-IN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3854" marR="438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Store_ID</a:t>
                      </a:r>
                      <a:endParaRPr lang="en-IN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3854" marR="438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Store ID</a:t>
                      </a:r>
                      <a:endParaRPr lang="en-IN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3854" marR="43854" marT="0" marB="0"/>
                </a:tc>
                <a:extLst>
                  <a:ext uri="{0D108BD9-81ED-4DB2-BD59-A6C34878D82A}">
                    <a16:rowId xmlns:a16="http://schemas.microsoft.com/office/drawing/2014/main" val="2487759631"/>
                  </a:ext>
                </a:extLst>
              </a:tr>
              <a:tr h="18056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Stores</a:t>
                      </a:r>
                      <a:endParaRPr lang="en-IN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3854" marR="438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Store_Name</a:t>
                      </a:r>
                      <a:endParaRPr lang="en-IN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3854" marR="438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Store name</a:t>
                      </a:r>
                      <a:endParaRPr lang="en-IN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3854" marR="43854" marT="0" marB="0"/>
                </a:tc>
                <a:extLst>
                  <a:ext uri="{0D108BD9-81ED-4DB2-BD59-A6C34878D82A}">
                    <a16:rowId xmlns:a16="http://schemas.microsoft.com/office/drawing/2014/main" val="1918535033"/>
                  </a:ext>
                </a:extLst>
              </a:tr>
              <a:tr h="18056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Stores</a:t>
                      </a:r>
                      <a:endParaRPr lang="en-IN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3854" marR="438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Store_City</a:t>
                      </a:r>
                      <a:endParaRPr lang="en-IN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3854" marR="438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City in Mexico where the store is located</a:t>
                      </a:r>
                      <a:endParaRPr lang="en-IN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3854" marR="43854" marT="0" marB="0"/>
                </a:tc>
                <a:extLst>
                  <a:ext uri="{0D108BD9-81ED-4DB2-BD59-A6C34878D82A}">
                    <a16:rowId xmlns:a16="http://schemas.microsoft.com/office/drawing/2014/main" val="599143469"/>
                  </a:ext>
                </a:extLst>
              </a:tr>
              <a:tr h="33932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Stores</a:t>
                      </a:r>
                      <a:endParaRPr lang="en-IN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3854" marR="438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Store_Location</a:t>
                      </a:r>
                      <a:endParaRPr lang="en-IN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3854" marR="438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Location in the city where the store is located</a:t>
                      </a:r>
                      <a:endParaRPr lang="en-IN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3854" marR="43854" marT="0" marB="0"/>
                </a:tc>
                <a:extLst>
                  <a:ext uri="{0D108BD9-81ED-4DB2-BD59-A6C34878D82A}">
                    <a16:rowId xmlns:a16="http://schemas.microsoft.com/office/drawing/2014/main" val="2476389665"/>
                  </a:ext>
                </a:extLst>
              </a:tr>
              <a:tr h="33932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Stores</a:t>
                      </a:r>
                      <a:endParaRPr lang="en-IN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3854" marR="438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Store_Open_Date</a:t>
                      </a:r>
                      <a:endParaRPr lang="en-IN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3854" marR="438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Date when the store was opened</a:t>
                      </a:r>
                      <a:endParaRPr lang="en-IN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3854" marR="43854" marT="0" marB="0"/>
                </a:tc>
                <a:extLst>
                  <a:ext uri="{0D108BD9-81ED-4DB2-BD59-A6C34878D82A}">
                    <a16:rowId xmlns:a16="http://schemas.microsoft.com/office/drawing/2014/main" val="1540907760"/>
                  </a:ext>
                </a:extLst>
              </a:tr>
              <a:tr h="18056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Sales</a:t>
                      </a:r>
                      <a:endParaRPr lang="en-IN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3854" marR="438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Sale_ID</a:t>
                      </a:r>
                      <a:endParaRPr lang="en-IN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3854" marR="438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Sale ID</a:t>
                      </a:r>
                      <a:endParaRPr lang="en-IN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3854" marR="43854" marT="0" marB="0"/>
                </a:tc>
                <a:extLst>
                  <a:ext uri="{0D108BD9-81ED-4DB2-BD59-A6C34878D82A}">
                    <a16:rowId xmlns:a16="http://schemas.microsoft.com/office/drawing/2014/main" val="3427904215"/>
                  </a:ext>
                </a:extLst>
              </a:tr>
              <a:tr h="18056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Sales</a:t>
                      </a:r>
                      <a:endParaRPr lang="en-IN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3854" marR="438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Date</a:t>
                      </a:r>
                      <a:endParaRPr lang="en-IN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3854" marR="438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Date of the transaction</a:t>
                      </a:r>
                      <a:endParaRPr lang="en-IN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3854" marR="43854" marT="0" marB="0"/>
                </a:tc>
                <a:extLst>
                  <a:ext uri="{0D108BD9-81ED-4DB2-BD59-A6C34878D82A}">
                    <a16:rowId xmlns:a16="http://schemas.microsoft.com/office/drawing/2014/main" val="4144841747"/>
                  </a:ext>
                </a:extLst>
              </a:tr>
              <a:tr h="18056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Sales</a:t>
                      </a:r>
                      <a:endParaRPr lang="en-IN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3854" marR="438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Store_ID</a:t>
                      </a:r>
                      <a:endParaRPr lang="en-IN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3854" marR="438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Store ID</a:t>
                      </a:r>
                      <a:endParaRPr lang="en-IN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3854" marR="43854" marT="0" marB="0"/>
                </a:tc>
                <a:extLst>
                  <a:ext uri="{0D108BD9-81ED-4DB2-BD59-A6C34878D82A}">
                    <a16:rowId xmlns:a16="http://schemas.microsoft.com/office/drawing/2014/main" val="3460345034"/>
                  </a:ext>
                </a:extLst>
              </a:tr>
              <a:tr h="18056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Sales</a:t>
                      </a:r>
                      <a:endParaRPr lang="en-IN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3854" marR="438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Product_ID</a:t>
                      </a:r>
                      <a:endParaRPr lang="en-IN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3854" marR="438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Product ID</a:t>
                      </a:r>
                      <a:endParaRPr lang="en-IN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3854" marR="43854" marT="0" marB="0"/>
                </a:tc>
                <a:extLst>
                  <a:ext uri="{0D108BD9-81ED-4DB2-BD59-A6C34878D82A}">
                    <a16:rowId xmlns:a16="http://schemas.microsoft.com/office/drawing/2014/main" val="3255388348"/>
                  </a:ext>
                </a:extLst>
              </a:tr>
              <a:tr h="18056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Sales</a:t>
                      </a:r>
                      <a:endParaRPr lang="en-IN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3854" marR="438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Units</a:t>
                      </a:r>
                      <a:endParaRPr lang="en-IN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3854" marR="438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dirty="0">
                          <a:effectLst/>
                        </a:rPr>
                        <a:t>Units sold</a:t>
                      </a:r>
                      <a:endParaRPr lang="en-IN" sz="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3854" marR="43854" marT="0" marB="0"/>
                </a:tc>
                <a:extLst>
                  <a:ext uri="{0D108BD9-81ED-4DB2-BD59-A6C34878D82A}">
                    <a16:rowId xmlns:a16="http://schemas.microsoft.com/office/drawing/2014/main" val="33745251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6032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83AD5-9E8C-E319-02B8-B810D74AA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677332"/>
            <a:ext cx="9601196" cy="433011"/>
          </a:xfrm>
        </p:spPr>
        <p:txBody>
          <a:bodyPr>
            <a:normAutofit fontScale="90000"/>
          </a:bodyPr>
          <a:lstStyle/>
          <a:p>
            <a:r>
              <a:rPr lang="en-US" sz="3200" b="1" i="1" dirty="0"/>
              <a:t>SQL ANALYSIS</a:t>
            </a:r>
            <a:endParaRPr lang="en-IN" sz="3200" b="1" i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7B9C2F-824B-DA1F-FF8B-2308E8398B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1" y="1240971"/>
            <a:ext cx="9601196" cy="4939697"/>
          </a:xfrm>
        </p:spPr>
        <p:txBody>
          <a:bodyPr>
            <a:normAutofit fontScale="92500" lnSpcReduction="20000"/>
          </a:bodyPr>
          <a:lstStyle/>
          <a:p>
            <a:pPr marL="97155" lvl="0" indent="0">
              <a:buNone/>
            </a:pPr>
            <a:r>
              <a:rPr lang="en-US" sz="2600" b="1" dirty="0"/>
              <a:t>Sales Trend Analysis</a:t>
            </a:r>
            <a:endParaRPr lang="en-IN" sz="2600" b="1" dirty="0"/>
          </a:p>
          <a:p>
            <a:pPr marL="97155" indent="0">
              <a:buNone/>
            </a:pPr>
            <a:r>
              <a:rPr lang="en-US" sz="2600" dirty="0"/>
              <a:t>	Monthly wise sales trend over the stores, location for both year(2022 &amp; 2023)</a:t>
            </a:r>
            <a:endParaRPr lang="en-IN" sz="2600" dirty="0"/>
          </a:p>
          <a:p>
            <a:pPr marL="97155" lvl="0" indent="0">
              <a:buNone/>
            </a:pPr>
            <a:r>
              <a:rPr lang="en-US" sz="2600" b="1" dirty="0"/>
              <a:t>Stores performance Analysis-</a:t>
            </a:r>
            <a:endParaRPr lang="en-IN" sz="2600" b="1" dirty="0"/>
          </a:p>
          <a:p>
            <a:pPr marL="554356" lvl="1" indent="0">
              <a:buNone/>
            </a:pPr>
            <a:r>
              <a:rPr lang="en-US" sz="2600" dirty="0"/>
              <a:t>Find the sales trend over the different Stores and find the best and least five stores as per the performance in one query.</a:t>
            </a:r>
          </a:p>
          <a:p>
            <a:pPr marL="554356" lvl="1" indent="0">
              <a:buNone/>
            </a:pPr>
            <a:r>
              <a:rPr lang="en-US" sz="2600" dirty="0"/>
              <a:t>Does the area of store location  effect the sales of the product</a:t>
            </a:r>
            <a:endParaRPr lang="en-IN" sz="2600" dirty="0"/>
          </a:p>
          <a:p>
            <a:pPr marL="554356" lvl="1" indent="0">
              <a:buNone/>
            </a:pPr>
            <a:r>
              <a:rPr lang="en-US" sz="2600" dirty="0"/>
              <a:t> </a:t>
            </a:r>
            <a:r>
              <a:rPr lang="en-US" sz="2600" b="1" dirty="0"/>
              <a:t>Product performance Analysis-</a:t>
            </a:r>
            <a:endParaRPr lang="en-IN" sz="2600" b="1" dirty="0"/>
          </a:p>
          <a:p>
            <a:pPr lvl="1"/>
            <a:r>
              <a:rPr lang="en-US" sz="2600" dirty="0"/>
              <a:t>Find out the report of Product and Store relationship towards sale.</a:t>
            </a:r>
            <a:endParaRPr lang="en-IN" sz="2600" dirty="0"/>
          </a:p>
          <a:p>
            <a:pPr lvl="1"/>
            <a:r>
              <a:rPr lang="en-US" sz="2600" dirty="0"/>
              <a:t>Is there any category that outshines the rest .High demanded product among all locations as per the sales.</a:t>
            </a:r>
            <a:endParaRPr lang="en-IN" sz="2600" dirty="0"/>
          </a:p>
          <a:p>
            <a:pPr marL="97155" lvl="0" indent="0">
              <a:buNone/>
            </a:pPr>
            <a:r>
              <a:rPr lang="en-US" sz="2600" b="1" dirty="0"/>
              <a:t>Inventory Health analysis</a:t>
            </a:r>
            <a:endParaRPr lang="en-IN" sz="2600" b="1" dirty="0"/>
          </a:p>
          <a:p>
            <a:pPr marL="554356" lvl="1" indent="0">
              <a:buNone/>
            </a:pPr>
            <a:r>
              <a:rPr lang="en-US" sz="2600" dirty="0"/>
              <a:t>Find out the </a:t>
            </a:r>
            <a:r>
              <a:rPr lang="en-US" sz="2600" dirty="0" err="1"/>
              <a:t>avg_inventory</a:t>
            </a:r>
            <a:r>
              <a:rPr lang="en-US" sz="2600" dirty="0"/>
              <a:t> as per the store and product.</a:t>
            </a:r>
            <a:endParaRPr lang="en-IN" sz="2600" dirty="0"/>
          </a:p>
          <a:p>
            <a:pPr marL="554356" lvl="1" indent="0">
              <a:buNone/>
            </a:pPr>
            <a:r>
              <a:rPr lang="en-US" sz="2600" dirty="0"/>
              <a:t> </a:t>
            </a:r>
            <a:endParaRPr lang="en-IN" sz="26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242688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22125-6E70-D2EF-4E33-8B68DB66D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573" y="457199"/>
            <a:ext cx="9601196" cy="524934"/>
          </a:xfrm>
        </p:spPr>
        <p:txBody>
          <a:bodyPr>
            <a:normAutofit fontScale="90000"/>
          </a:bodyPr>
          <a:lstStyle/>
          <a:p>
            <a:r>
              <a:rPr lang="en-US" sz="3200" b="1" i="1" dirty="0" err="1"/>
              <a:t>PowerBI</a:t>
            </a:r>
            <a:r>
              <a:rPr lang="en-US" sz="3200" b="1" i="1" dirty="0"/>
              <a:t>/ Tableau</a:t>
            </a:r>
            <a:endParaRPr lang="en-IN" sz="3200" b="1" i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1103C6-1AC9-B74E-5CE0-18E620FD26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86544" y="1174446"/>
            <a:ext cx="9601196" cy="3318936"/>
          </a:xfrm>
        </p:spPr>
        <p:txBody>
          <a:bodyPr>
            <a:normAutofit/>
          </a:bodyPr>
          <a:lstStyle/>
          <a:p>
            <a:r>
              <a:rPr lang="en-US" sz="2800" dirty="0"/>
              <a:t>Create Visualizations of same Analysis questions as used for SQL</a:t>
            </a:r>
          </a:p>
          <a:p>
            <a:r>
              <a:rPr lang="en-US" sz="2800" dirty="0"/>
              <a:t>Additionally try to analyze available data come up with your own visuals</a:t>
            </a:r>
          </a:p>
          <a:p>
            <a:r>
              <a:rPr lang="en-US" sz="2800" dirty="0"/>
              <a:t>Any general analysis based on products , stores and inventory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3021836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349</Words>
  <Application>Microsoft Office PowerPoint</Application>
  <PresentationFormat>Widescreen</PresentationFormat>
  <Paragraphs>80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    PROBLEM STATEMENT</vt:lpstr>
      <vt:lpstr>DATA DICTIONARY</vt:lpstr>
      <vt:lpstr>SQL ANALYSIS</vt:lpstr>
      <vt:lpstr>PowerBI/ Tableau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 PROBLEM STATEMENT</dc:title>
  <dc:creator>Windows</dc:creator>
  <cp:lastModifiedBy>Windows</cp:lastModifiedBy>
  <cp:revision>1</cp:revision>
  <dcterms:created xsi:type="dcterms:W3CDTF">2025-11-27T11:54:58Z</dcterms:created>
  <dcterms:modified xsi:type="dcterms:W3CDTF">2025-11-27T11:59:04Z</dcterms:modified>
</cp:coreProperties>
</file>